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67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-93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BC56C-971B-475C-A885-2DFA15DE9881}" type="datetimeFigureOut">
              <a:rPr lang="ru-RU" smtClean="0"/>
              <a:t>16.12.2017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2A028-F436-4E36-805B-DF3986E3D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84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</a:t>
            </a:r>
            <a:r>
              <a:rPr lang="ru-RU" dirty="0" err="1" smtClean="0"/>
              <a:t>бОльшего</a:t>
            </a:r>
            <a:r>
              <a:rPr lang="ru-RU" dirty="0" smtClean="0"/>
              <a:t>,</a:t>
            </a:r>
            <a:r>
              <a:rPr lang="ru-RU" baseline="0" dirty="0" smtClean="0"/>
              <a:t> чем 15-уровневое дерево, можно пользовать массивы чисел. Авторы утверждают, что реализовали и это на </a:t>
            </a:r>
            <a:r>
              <a:rPr lang="en-US" baseline="0" dirty="0" smtClean="0"/>
              <a:t>GPU.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A028-F436-4E36-805B-DF3986E3D10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78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Соответствие: узел </a:t>
            </a:r>
            <a:r>
              <a:rPr lang="ru-RU" dirty="0" err="1" smtClean="0"/>
              <a:t>квадро</a:t>
            </a:r>
            <a:r>
              <a:rPr lang="ru-RU" dirty="0" smtClean="0"/>
              <a:t>-дерева </a:t>
            </a:r>
            <a:r>
              <a:rPr lang="en-US" dirty="0" smtClean="0">
                <a:sym typeface="Wingdings" panose="05000000000000000000" pitchFamily="2" charset="2"/>
              </a:rPr>
              <a:t> </a:t>
            </a:r>
            <a:r>
              <a:rPr lang="ru-RU" dirty="0" smtClean="0">
                <a:sym typeface="Wingdings" panose="05000000000000000000" pitchFamily="2" charset="2"/>
              </a:rPr>
              <a:t>равномерная</a:t>
            </a:r>
            <a:r>
              <a:rPr lang="ru-RU" baseline="0" dirty="0" smtClean="0">
                <a:sym typeface="Wingdings" panose="05000000000000000000" pitchFamily="2" charset="2"/>
              </a:rPr>
              <a:t> </a:t>
            </a:r>
            <a:r>
              <a:rPr lang="ru-RU" dirty="0" smtClean="0">
                <a:sym typeface="Wingdings" panose="05000000000000000000" pitchFamily="2" charset="2"/>
              </a:rPr>
              <a:t>сетка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A028-F436-4E36-805B-DF3986E3D10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972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Cull</a:t>
            </a:r>
            <a:r>
              <a:rPr lang="en-US" baseline="0" dirty="0" smtClean="0"/>
              <a:t> Kernel : </a:t>
            </a:r>
            <a:r>
              <a:rPr lang="ru-RU" baseline="0" dirty="0" smtClean="0"/>
              <a:t>отбраковка узлов дерева, не попадающих в </a:t>
            </a:r>
            <a:r>
              <a:rPr lang="ru-RU" baseline="0" smtClean="0"/>
              <a:t>пирамиду видимости.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A028-F436-4E36-805B-DF3986E3D10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999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6855-BC85-4037-9C1A-CF9E9EDB6FD8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09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DC8F-A1CC-4027-9056-658B488F9438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51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4C73-9D49-4578-B812-331CF68CAD38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3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62C3-1BF6-4D2F-974F-1709511EAFDD}" type="datetime1">
              <a:rPr lang="ru-RU" smtClean="0"/>
              <a:t>16.12.2017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9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1DC31-3779-47E4-AB69-113D9FFED2F7}" type="datetime1">
              <a:rPr lang="ru-RU" smtClean="0"/>
              <a:t>16.12.2017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41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744-8007-41B0-B102-B93595FEE462}" type="datetime1">
              <a:rPr lang="ru-RU" smtClean="0"/>
              <a:t>16.12.2017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C4C4-5E14-4080-B44B-1667B1E365E1}" type="datetime1">
              <a:rPr lang="ru-RU" smtClean="0"/>
              <a:t>16.12.2017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50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FE27A-66EA-4C23-83F8-EE7FBC7FCD20}" type="datetime1">
              <a:rPr lang="ru-RU" smtClean="0"/>
              <a:t>16.12.2017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46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13268-36B4-485E-B11A-AE6DC38FFA68}" type="datetime1">
              <a:rPr lang="ru-RU" smtClean="0"/>
              <a:t>16.12.2017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36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3252-FC18-4FDC-BF94-E99FB3C7EBBA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9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DFA4-C533-414E-A529-185149C9BF60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50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A81E-4C0F-49AB-B996-A4C94440A994}" type="datetime1">
              <a:rPr lang="ru-RU" smtClean="0"/>
              <a:t>16.12.2017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683E3-8014-44F2-B881-82B1061CC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34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Обработка </a:t>
            </a:r>
            <a:r>
              <a:rPr lang="ru-RU" dirty="0" err="1" smtClean="0"/>
              <a:t>квадро</a:t>
            </a:r>
            <a:r>
              <a:rPr lang="ru-RU" dirty="0" smtClean="0"/>
              <a:t>-деревьев на графическом ускорителе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087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Первоисточник	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Jonathan </a:t>
            </a:r>
            <a:r>
              <a:rPr lang="en-US" sz="2400" dirty="0" err="1" smtClean="0"/>
              <a:t>Dupuy</a:t>
            </a:r>
            <a:r>
              <a:rPr lang="en-US" sz="2400" dirty="0" smtClean="0"/>
              <a:t>, Jean-Claude </a:t>
            </a:r>
            <a:r>
              <a:rPr lang="en-US" sz="2400" dirty="0" err="1" smtClean="0"/>
              <a:t>Iehl</a:t>
            </a:r>
            <a:r>
              <a:rPr lang="en-US" sz="2400" dirty="0" smtClean="0"/>
              <a:t>, Pierre </a:t>
            </a:r>
            <a:r>
              <a:rPr lang="en-US" sz="2400" dirty="0" err="1" smtClean="0"/>
              <a:t>Poulin</a:t>
            </a:r>
            <a:r>
              <a:rPr lang="en-US" sz="2400" dirty="0"/>
              <a:t>.</a:t>
            </a:r>
            <a:r>
              <a:rPr lang="en-US" sz="2400" dirty="0" smtClean="0"/>
              <a:t> </a:t>
            </a:r>
            <a:r>
              <a:rPr lang="ru-RU" sz="2400" dirty="0" smtClean="0"/>
              <a:t>«</a:t>
            </a:r>
            <a:r>
              <a:rPr lang="en-US" sz="2400" dirty="0" err="1" smtClean="0"/>
              <a:t>Quadtrees</a:t>
            </a:r>
            <a:r>
              <a:rPr lang="en-US" sz="2400" dirty="0" smtClean="0"/>
              <a:t> on GPU</a:t>
            </a:r>
            <a:r>
              <a:rPr lang="ru-RU" sz="2400" dirty="0" smtClean="0"/>
              <a:t>». </a:t>
            </a:r>
            <a:r>
              <a:rPr lang="en-US" sz="2400" dirty="0" smtClean="0"/>
              <a:t>GPU Pro</a:t>
            </a:r>
            <a:r>
              <a:rPr lang="en-US" sz="2400" baseline="30000" dirty="0" smtClean="0"/>
              <a:t>5</a:t>
            </a:r>
            <a:r>
              <a:rPr lang="en-US" sz="2400" dirty="0" smtClean="0"/>
              <a:t>, edited by Wolfgang Engel, pp. 439 – 449, 2014.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Partly funded in Canada by GRAND and in France by ANR. Jonathan </a:t>
            </a:r>
            <a:r>
              <a:rPr lang="en-US" sz="2400" dirty="0" err="1" smtClean="0"/>
              <a:t>Dupuy</a:t>
            </a:r>
            <a:r>
              <a:rPr lang="en-US" sz="2400" dirty="0" smtClean="0"/>
              <a:t> acknowledges additional financial support from an </a:t>
            </a:r>
            <a:r>
              <a:rPr lang="en-US" sz="2400" dirty="0" err="1" smtClean="0"/>
              <a:t>Explo’ra</a:t>
            </a:r>
            <a:r>
              <a:rPr lang="en-US" sz="2400" dirty="0" smtClean="0"/>
              <a:t> Doc grant from “</a:t>
            </a:r>
            <a:r>
              <a:rPr lang="en-US" sz="2400" dirty="0" err="1" smtClean="0"/>
              <a:t>région</a:t>
            </a:r>
            <a:r>
              <a:rPr lang="en-US" sz="2400" dirty="0" smtClean="0"/>
              <a:t> </a:t>
            </a:r>
            <a:r>
              <a:rPr lang="en-US" sz="2400" dirty="0" err="1" smtClean="0"/>
              <a:t>Rhône-Alpes</a:t>
            </a:r>
            <a:r>
              <a:rPr lang="en-US" sz="2400" dirty="0" smtClean="0"/>
              <a:t>,” France.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4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Используя </a:t>
            </a:r>
            <a:r>
              <a:rPr lang="ru-RU" sz="2400" dirty="0" err="1" smtClean="0"/>
              <a:t>квадро</a:t>
            </a:r>
            <a:r>
              <a:rPr lang="en-US" sz="2400" dirty="0" smtClean="0"/>
              <a:t>-</a:t>
            </a:r>
            <a:r>
              <a:rPr lang="ru-RU" sz="2400" dirty="0" smtClean="0"/>
              <a:t>дерево построить адаптивную сетку ландшафта без использования </a:t>
            </a:r>
            <a:r>
              <a:rPr lang="en-US" sz="2400" dirty="0" smtClean="0"/>
              <a:t>CPU.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01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Код </a:t>
            </a:r>
            <a:r>
              <a:rPr lang="ru-RU" dirty="0" err="1" smtClean="0"/>
              <a:t>Мортона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Morton, G. M. (1966), A computer Oriented Geodetic Data Base; and a New Technique in File Sequencing, Technical Report, Ottawa, Canada: IBM Ltd.</a:t>
            </a: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Код </a:t>
            </a:r>
            <a:r>
              <a:rPr lang="ru-RU" sz="2400" dirty="0" err="1" smtClean="0"/>
              <a:t>Мортона</a:t>
            </a:r>
            <a:r>
              <a:rPr lang="ru-RU" sz="2400" dirty="0" smtClean="0"/>
              <a:t> – схема кодирования </a:t>
            </a:r>
            <a:r>
              <a:rPr lang="en-US" sz="2400" dirty="0" smtClean="0"/>
              <a:t>N-</a:t>
            </a:r>
            <a:r>
              <a:rPr lang="ru-RU" sz="2400" dirty="0" smtClean="0"/>
              <a:t>мерных данных </a:t>
            </a:r>
            <a:r>
              <a:rPr lang="ru-RU" sz="2400" dirty="0"/>
              <a:t>в</a:t>
            </a:r>
            <a:r>
              <a:rPr lang="ru-RU" sz="2400" dirty="0" smtClean="0"/>
              <a:t> линейную последовательность с сохранением свойства пространственной локальности.</a:t>
            </a:r>
            <a:endParaRPr lang="en-US" sz="24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5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Код </a:t>
            </a:r>
            <a:r>
              <a:rPr lang="ru-RU" dirty="0" err="1" smtClean="0"/>
              <a:t>Мортона</a:t>
            </a:r>
            <a:endParaRPr lang="ru-RU" dirty="0"/>
          </a:p>
        </p:txBody>
      </p:sp>
      <p:pic>
        <p:nvPicPr>
          <p:cNvPr id="5" name="Picture 2" descr="Z-curve.sv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519" y="1600200"/>
            <a:ext cx="4598962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33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</a:t>
            </a:r>
            <a:r>
              <a:rPr lang="ru-RU" dirty="0" err="1" smtClean="0"/>
              <a:t>квадро</a:t>
            </a:r>
            <a:r>
              <a:rPr lang="ru-RU" dirty="0" smtClean="0"/>
              <a:t>-деревья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х</a:t>
            </a:r>
            <a:r>
              <a:rPr lang="ru-RU" sz="2400" dirty="0" smtClean="0"/>
              <a:t>раним только </a:t>
            </a:r>
            <a:r>
              <a:rPr lang="ru-RU" sz="2400" dirty="0" smtClean="0"/>
              <a:t>листья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r>
              <a:rPr lang="ru-RU" sz="2400" dirty="0"/>
              <a:t>к</a:t>
            </a:r>
            <a:r>
              <a:rPr lang="ru-RU" sz="2400" dirty="0" smtClean="0"/>
              <a:t>одируем узел: </a:t>
            </a:r>
            <a:r>
              <a:rPr lang="en-US" sz="2400" dirty="0" smtClean="0"/>
              <a:t>32 </a:t>
            </a:r>
            <a:r>
              <a:rPr lang="ru-RU" sz="2400" dirty="0" smtClean="0"/>
              <a:t>бита </a:t>
            </a:r>
            <a:r>
              <a:rPr lang="en-US" sz="2400" dirty="0" smtClean="0"/>
              <a:t>=&gt; </a:t>
            </a:r>
            <a:r>
              <a:rPr lang="ru-RU" sz="2400" dirty="0" smtClean="0"/>
              <a:t>уровень, уникальный </a:t>
            </a:r>
            <a:r>
              <a:rPr lang="ru-RU" sz="2400" dirty="0" smtClean="0"/>
              <a:t>код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lvl="1"/>
            <a:r>
              <a:rPr lang="ru-RU" sz="2000" dirty="0" smtClean="0"/>
              <a:t>код: конкатенация 2-битовых </a:t>
            </a:r>
            <a:r>
              <a:rPr lang="ru-RU" sz="2000" dirty="0" smtClean="0"/>
              <a:t>слов</a:t>
            </a:r>
            <a:r>
              <a:rPr lang="en-US" sz="2000" dirty="0" smtClean="0"/>
              <a:t>;</a:t>
            </a:r>
            <a:endParaRPr lang="ru-RU" sz="2000" dirty="0" smtClean="0"/>
          </a:p>
          <a:p>
            <a:pPr lvl="2"/>
            <a:r>
              <a:rPr lang="ru-RU" sz="1800" dirty="0" smtClean="0"/>
              <a:t>слово: номер квадранта (0, 1, 2, 3 </a:t>
            </a:r>
            <a:r>
              <a:rPr lang="en-US" sz="1800" dirty="0" smtClean="0">
                <a:sym typeface="Wingdings" panose="05000000000000000000" pitchFamily="2" charset="2"/>
              </a:rPr>
              <a:t> UL, UR, LL, LR</a:t>
            </a:r>
            <a:r>
              <a:rPr lang="en-US" sz="1800" dirty="0" smtClean="0">
                <a:sym typeface="Wingdings" panose="05000000000000000000" pitchFamily="2" charset="2"/>
              </a:rPr>
              <a:t>).</a:t>
            </a:r>
            <a:endParaRPr lang="en-US" sz="1800" dirty="0" smtClean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sz="2600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789040"/>
            <a:ext cx="2133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71600" y="6021288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 smtClean="0"/>
              <a:t>msb</a:t>
            </a:r>
            <a:r>
              <a:rPr lang="en-US" dirty="0" smtClean="0"/>
              <a:t>                                                                                           </a:t>
            </a:r>
            <a:r>
              <a:rPr lang="en-US" dirty="0" err="1" smtClean="0"/>
              <a:t>lsb</a:t>
            </a:r>
            <a:endParaRPr lang="en-US" dirty="0" smtClean="0"/>
          </a:p>
          <a:p>
            <a:pPr algn="ctr"/>
            <a:r>
              <a:rPr lang="en-US" dirty="0" smtClean="0"/>
              <a:t>_ _ _ _   _ _ _ _   _ _ _ _   _ _ _ _   _ _ _ _   _ _11 1001 0011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5004048" y="5589240"/>
            <a:ext cx="1008112" cy="755213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1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</a:t>
            </a:r>
            <a:r>
              <a:rPr lang="ru-RU" dirty="0" err="1" smtClean="0"/>
              <a:t>квадро</a:t>
            </a:r>
            <a:r>
              <a:rPr lang="ru-RU" dirty="0" smtClean="0"/>
              <a:t>-деревья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509120"/>
            <a:ext cx="8229600" cy="1617043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первые 4 бита – уровень (</a:t>
            </a:r>
            <a:r>
              <a:rPr lang="en-US" sz="2400" dirty="0" smtClean="0"/>
              <a:t>0011</a:t>
            </a:r>
            <a:r>
              <a:rPr lang="en-US" sz="2400" baseline="-25000" dirty="0" smtClean="0"/>
              <a:t>b </a:t>
            </a:r>
            <a:r>
              <a:rPr lang="en-US" sz="2400" dirty="0" smtClean="0"/>
              <a:t>== </a:t>
            </a:r>
            <a:r>
              <a:rPr lang="en-US" sz="2400" dirty="0" smtClean="0"/>
              <a:t>3);</a:t>
            </a:r>
            <a:endParaRPr lang="en-US" sz="2400" dirty="0" smtClean="0"/>
          </a:p>
          <a:p>
            <a:r>
              <a:rPr lang="en-US" sz="2400" dirty="0" smtClean="0"/>
              <a:t>28 </a:t>
            </a:r>
            <a:r>
              <a:rPr lang="ru-RU" sz="2400" dirty="0" smtClean="0"/>
              <a:t>бит – уникальный </a:t>
            </a:r>
            <a:r>
              <a:rPr lang="ru-RU" sz="2400" dirty="0" smtClean="0"/>
              <a:t>код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=</a:t>
            </a:r>
            <a:r>
              <a:rPr lang="en-US" sz="2400" dirty="0" smtClean="0"/>
              <a:t>&gt; 28 / 2 + 1 = 15</a:t>
            </a:r>
            <a:r>
              <a:rPr lang="ru-RU" sz="2400" dirty="0" smtClean="0"/>
              <a:t> уровней </a:t>
            </a:r>
            <a:r>
              <a:rPr lang="ru-RU" sz="2400" dirty="0" err="1" smtClean="0"/>
              <a:t>квадро</a:t>
            </a:r>
            <a:r>
              <a:rPr lang="ru-RU" sz="2400" dirty="0" smtClean="0"/>
              <a:t>-дерева (включая корень)</a:t>
            </a:r>
            <a:endParaRPr lang="ru-RU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295400"/>
            <a:ext cx="2133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71600" y="3527648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 smtClean="0"/>
              <a:t>msb</a:t>
            </a:r>
            <a:r>
              <a:rPr lang="en-US" dirty="0" smtClean="0"/>
              <a:t>                                                                                           </a:t>
            </a:r>
            <a:r>
              <a:rPr lang="en-US" dirty="0" err="1" smtClean="0"/>
              <a:t>lsb</a:t>
            </a:r>
            <a:endParaRPr lang="en-US" dirty="0" smtClean="0"/>
          </a:p>
          <a:p>
            <a:pPr algn="ctr"/>
            <a:r>
              <a:rPr lang="en-US" dirty="0" smtClean="0"/>
              <a:t>_ _ _ _   _ _ _ _   _ _ _ _   _ _ _ _   _ _ _ _   _ _11 1001 0011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5004048" y="3095600"/>
            <a:ext cx="1008112" cy="755213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6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</a:t>
            </a:r>
            <a:r>
              <a:rPr lang="ru-RU" dirty="0" err="1" smtClean="0"/>
              <a:t>квадро</a:t>
            </a:r>
            <a:r>
              <a:rPr lang="ru-RU" dirty="0" smtClean="0"/>
              <a:t>-деревья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// de−interleave a 32−bit word using the Shift−Or algorithm</a:t>
            </a:r>
          </a:p>
          <a:p>
            <a:pPr marL="0" indent="0">
              <a:buNone/>
            </a:pPr>
            <a:r>
              <a:rPr lang="en-US" dirty="0" err="1" smtClean="0"/>
              <a:t>uint</a:t>
            </a:r>
            <a:r>
              <a:rPr lang="en-US" dirty="0" smtClean="0"/>
              <a:t> lt_undilate_2 ( in </a:t>
            </a:r>
            <a:r>
              <a:rPr lang="en-US" dirty="0" err="1" smtClean="0"/>
              <a:t>uint</a:t>
            </a:r>
            <a:r>
              <a:rPr lang="en-US" dirty="0" smtClean="0"/>
              <a:t> x ) {</a:t>
            </a:r>
          </a:p>
          <a:p>
            <a:pPr marL="0" indent="0">
              <a:buNone/>
            </a:pPr>
            <a:r>
              <a:rPr lang="en-US" dirty="0" smtClean="0"/>
              <a:t>	x = (x | ( x &gt;&gt; 1u ) ) &amp; 0x33333333 ;</a:t>
            </a:r>
          </a:p>
          <a:p>
            <a:pPr marL="0" indent="0">
              <a:buNone/>
            </a:pPr>
            <a:r>
              <a:rPr lang="en-US" dirty="0" smtClean="0"/>
              <a:t>	x = (x | ( x &gt;&gt; 2u ) ) &amp; 0x0F0F0F0F ;</a:t>
            </a:r>
          </a:p>
          <a:p>
            <a:pPr marL="0" indent="0">
              <a:buNone/>
            </a:pPr>
            <a:r>
              <a:rPr lang="en-US" dirty="0" smtClean="0"/>
              <a:t>	x = (x | ( x &gt;&gt; 4u ) ) &amp; 0x00FF00FF ;</a:t>
            </a:r>
          </a:p>
          <a:p>
            <a:pPr marL="0" indent="0">
              <a:buNone/>
            </a:pPr>
            <a:r>
              <a:rPr lang="en-US" dirty="0" smtClean="0"/>
              <a:t>	x = (x | ( x &gt;&gt; 8u ) ) &amp; 0x0000FFFF ;</a:t>
            </a:r>
          </a:p>
          <a:p>
            <a:pPr marL="0" indent="0">
              <a:buNone/>
            </a:pPr>
            <a:r>
              <a:rPr lang="en-US" dirty="0" smtClean="0"/>
              <a:t>	return ( x &amp; 0x0000FFFF ) 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// retrieve column major position and level from a 32−bit word</a:t>
            </a:r>
          </a:p>
          <a:p>
            <a:pPr marL="0" indent="0">
              <a:buNone/>
            </a:pPr>
            <a:r>
              <a:rPr lang="en-US" dirty="0" smtClean="0"/>
              <a:t>void lt_decode_2_15 ( in </a:t>
            </a:r>
            <a:r>
              <a:rPr lang="en-US" dirty="0" err="1" smtClean="0"/>
              <a:t>uint</a:t>
            </a:r>
            <a:r>
              <a:rPr lang="en-US" dirty="0" smtClean="0"/>
              <a:t> key , out </a:t>
            </a:r>
            <a:r>
              <a:rPr lang="en-US" dirty="0" err="1" smtClean="0"/>
              <a:t>uint</a:t>
            </a:r>
            <a:r>
              <a:rPr lang="en-US" dirty="0" smtClean="0"/>
              <a:t> level , out uvec2 p ) {</a:t>
            </a:r>
          </a:p>
          <a:p>
            <a:pPr marL="0" indent="0">
              <a:buNone/>
            </a:pPr>
            <a:r>
              <a:rPr lang="en-US" dirty="0" smtClean="0"/>
              <a:t>	level = key &amp; 0xF ;</a:t>
            </a:r>
          </a:p>
          <a:p>
            <a:pPr marL="0" indent="0">
              <a:buNone/>
            </a:pPr>
            <a:r>
              <a:rPr lang="en-US" dirty="0" smtClean="0"/>
              <a:t>	p.x = lt_undilate_2 ( ( key &gt;&gt; 4u) &amp; 0x05555555 ) ;</a:t>
            </a:r>
          </a:p>
          <a:p>
            <a:pPr marL="0" indent="0">
              <a:buNone/>
            </a:pPr>
            <a:r>
              <a:rPr lang="en-US" dirty="0" smtClean="0"/>
              <a:t>	p.y = lt_undilate_2 ( ( key &gt;&gt; 5u) &amp; 0x05555555 ) 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32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</a:t>
            </a:r>
            <a:r>
              <a:rPr lang="ru-RU" dirty="0" err="1" smtClean="0"/>
              <a:t>квадро</a:t>
            </a:r>
            <a:r>
              <a:rPr lang="ru-RU" dirty="0" smtClean="0"/>
              <a:t>-деревья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20" y="1556792"/>
            <a:ext cx="5554960" cy="1552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51520" y="3433316"/>
            <a:ext cx="8640960" cy="3139321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void lt_children_2_15 ( in </a:t>
            </a:r>
            <a:r>
              <a:rPr lang="en-US" dirty="0" err="1" smtClean="0"/>
              <a:t>uint</a:t>
            </a:r>
            <a:r>
              <a:rPr lang="en-US" dirty="0" smtClean="0"/>
              <a:t> key , out </a:t>
            </a:r>
            <a:r>
              <a:rPr lang="en-US" dirty="0" err="1" smtClean="0"/>
              <a:t>uint</a:t>
            </a:r>
            <a:r>
              <a:rPr lang="en-US" dirty="0" smtClean="0"/>
              <a:t> children [4] ) {</a:t>
            </a:r>
          </a:p>
          <a:p>
            <a:r>
              <a:rPr lang="en-US" dirty="0" smtClean="0"/>
              <a:t>	key = (++key &amp; 0xF ) | ( ( key &amp; ∼0 </a:t>
            </a:r>
            <a:r>
              <a:rPr lang="en-US" dirty="0" err="1" smtClean="0"/>
              <a:t>xF</a:t>
            </a:r>
            <a:r>
              <a:rPr lang="en-US" dirty="0" smtClean="0"/>
              <a:t> ) &lt;&lt; 2u ) ;</a:t>
            </a:r>
          </a:p>
          <a:p>
            <a:r>
              <a:rPr lang="en-US" dirty="0" smtClean="0"/>
              <a:t>	children [ 0 ] = key ;</a:t>
            </a:r>
          </a:p>
          <a:p>
            <a:r>
              <a:rPr lang="en-US" dirty="0" smtClean="0"/>
              <a:t>	children [ 1 ] = key | 0 x10 ;</a:t>
            </a:r>
          </a:p>
          <a:p>
            <a:r>
              <a:rPr lang="en-US" dirty="0" smtClean="0"/>
              <a:t>	children [ 2 ] = key | 0 x20 ;</a:t>
            </a:r>
          </a:p>
          <a:p>
            <a:r>
              <a:rPr lang="en-US" dirty="0" smtClean="0"/>
              <a:t>	children [ 3 ] = key | 0 x30 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err="1" smtClean="0"/>
              <a:t>uint</a:t>
            </a:r>
            <a:r>
              <a:rPr lang="en-US" dirty="0" smtClean="0"/>
              <a:t> lt_parent_2_15 ( in </a:t>
            </a:r>
            <a:r>
              <a:rPr lang="en-US" dirty="0" err="1" smtClean="0"/>
              <a:t>uint</a:t>
            </a:r>
            <a:r>
              <a:rPr lang="en-US" dirty="0" smtClean="0"/>
              <a:t> key ) {</a:t>
            </a:r>
          </a:p>
          <a:p>
            <a:r>
              <a:rPr lang="en-US" dirty="0" smtClean="0"/>
              <a:t>	return ((−−key &amp; 0xF ) | ( ( key &gt;&gt; 2u) &amp; 0x3FFFFFF0 ) ) ;</a:t>
            </a:r>
          </a:p>
          <a:p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53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Обновление </a:t>
            </a:r>
            <a:r>
              <a:rPr lang="ru-RU" dirty="0" err="1" smtClean="0"/>
              <a:t>квадро</a:t>
            </a:r>
            <a:r>
              <a:rPr lang="ru-RU" dirty="0" smtClean="0"/>
              <a:t>-дерева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509120"/>
            <a:ext cx="8229600" cy="1828800"/>
          </a:xfr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// check if node is the upper left child</a:t>
            </a:r>
            <a:r>
              <a:rPr lang="ru-RU" sz="2400" dirty="0" smtClean="0"/>
              <a:t> </a:t>
            </a:r>
            <a:r>
              <a:rPr lang="en-US" sz="2400" dirty="0" smtClean="0"/>
              <a:t>in a 32−b </a:t>
            </a:r>
            <a:r>
              <a:rPr lang="en-US" sz="2400" dirty="0" err="1" smtClean="0"/>
              <a:t>i</a:t>
            </a:r>
            <a:r>
              <a:rPr lang="en-US" sz="2400" dirty="0" smtClean="0"/>
              <a:t> t word</a:t>
            </a:r>
          </a:p>
          <a:p>
            <a:pPr marL="0" indent="0">
              <a:buNone/>
            </a:pPr>
            <a:r>
              <a:rPr lang="en-US" sz="2400" dirty="0" err="1" smtClean="0"/>
              <a:t>bool</a:t>
            </a:r>
            <a:r>
              <a:rPr lang="en-US" sz="2400" dirty="0" smtClean="0"/>
              <a:t> lt_is_upper_left_2_15 ( in </a:t>
            </a:r>
            <a:r>
              <a:rPr lang="en-US" sz="2400" dirty="0" err="1" smtClean="0"/>
              <a:t>uint</a:t>
            </a:r>
            <a:r>
              <a:rPr lang="en-US" sz="2400" dirty="0" smtClean="0"/>
              <a:t> key ) {</a:t>
            </a:r>
          </a:p>
          <a:p>
            <a:pPr marL="0" indent="0">
              <a:buNone/>
            </a:pPr>
            <a:r>
              <a:rPr lang="ru-RU" sz="2400" dirty="0" smtClean="0"/>
              <a:t>	</a:t>
            </a:r>
            <a:r>
              <a:rPr lang="en-US" sz="2400" dirty="0" smtClean="0"/>
              <a:t>return ( ( key &amp; 0x30) == 0x00 ) ;</a:t>
            </a:r>
          </a:p>
          <a:p>
            <a:pPr marL="0" indent="0">
              <a:buNone/>
            </a:pPr>
            <a:r>
              <a:rPr lang="en-US" sz="2400" dirty="0" smtClean="0"/>
              <a:t>}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алгоритм</a:t>
            </a:r>
            <a:r>
              <a:rPr lang="en-US" sz="2400" dirty="0" smtClean="0"/>
              <a:t> </a:t>
            </a:r>
            <a:r>
              <a:rPr lang="ru-RU" sz="2400" dirty="0" smtClean="0"/>
              <a:t>«</a:t>
            </a:r>
            <a:r>
              <a:rPr lang="ru-RU" sz="2400" dirty="0"/>
              <a:t>пинг-понг</a:t>
            </a:r>
            <a:r>
              <a:rPr lang="ru-RU" sz="2400" dirty="0" smtClean="0"/>
              <a:t>»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итеративно строим </a:t>
            </a:r>
            <a:r>
              <a:rPr lang="ru-RU" sz="2400" dirty="0" err="1" smtClean="0"/>
              <a:t>квадро-дерево</a:t>
            </a:r>
            <a:r>
              <a:rPr lang="ru-RU" sz="2400" dirty="0" smtClean="0"/>
              <a:t> начиная с </a:t>
            </a:r>
            <a:r>
              <a:rPr lang="ru-RU" sz="2400" dirty="0" smtClean="0"/>
              <a:t>корня</a:t>
            </a:r>
            <a:r>
              <a:rPr lang="en-US" sz="2400" dirty="0"/>
              <a:t>;</a:t>
            </a:r>
            <a:endParaRPr lang="ru-RU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фильтр – геометрический </a:t>
            </a:r>
            <a:r>
              <a:rPr lang="ru-RU" sz="2400" dirty="0" err="1" smtClean="0"/>
              <a:t>шейдер</a:t>
            </a:r>
            <a:r>
              <a:rPr lang="ru-RU" sz="2400" dirty="0" smtClean="0"/>
              <a:t> </a:t>
            </a:r>
            <a:r>
              <a:rPr lang="ru-RU" sz="2400" dirty="0" smtClean="0"/>
              <a:t>(!!)</a:t>
            </a:r>
            <a:r>
              <a:rPr lang="en-US" sz="2400" dirty="0" smtClean="0"/>
              <a:t>;</a:t>
            </a:r>
            <a:endParaRPr lang="ru-R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при разбиении узла – генерация новых «вершин</a:t>
            </a:r>
            <a:r>
              <a:rPr lang="ru-RU" sz="2400" dirty="0" smtClean="0"/>
              <a:t>»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при </a:t>
            </a:r>
            <a:r>
              <a:rPr lang="ru-RU" sz="2400" dirty="0" err="1" smtClean="0"/>
              <a:t>схлапывании</a:t>
            </a:r>
            <a:r>
              <a:rPr lang="ru-RU" sz="2400" dirty="0" smtClean="0"/>
              <a:t> узла – замещение </a:t>
            </a:r>
            <a:r>
              <a:rPr lang="ru-RU" sz="2400" dirty="0" smtClean="0"/>
              <a:t>родителем</a:t>
            </a:r>
            <a:r>
              <a:rPr lang="en-US" sz="2400" dirty="0"/>
              <a:t>.</a:t>
            </a:r>
            <a:endParaRPr lang="ru-RU" sz="2400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66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Извлечение сетки: вершинный шейдер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layout ( location = 0) in vec2 </a:t>
            </a:r>
            <a:r>
              <a:rPr lang="en-US" dirty="0" err="1" smtClean="0"/>
              <a:t>i_mesh</a:t>
            </a:r>
            <a:r>
              <a:rPr lang="en-US" dirty="0" smtClean="0"/>
              <a:t> ; // instanced vertices</a:t>
            </a:r>
          </a:p>
          <a:p>
            <a:pPr marL="0" indent="0">
              <a:buNone/>
            </a:pPr>
            <a:r>
              <a:rPr lang="en-US" dirty="0" smtClean="0"/>
              <a:t>layout ( location = 1) in </a:t>
            </a:r>
            <a:r>
              <a:rPr lang="en-US" dirty="0" err="1" smtClean="0"/>
              <a:t>uint</a:t>
            </a:r>
            <a:r>
              <a:rPr lang="en-US" dirty="0" smtClean="0"/>
              <a:t> </a:t>
            </a:r>
            <a:r>
              <a:rPr lang="en-US" dirty="0" err="1" smtClean="0"/>
              <a:t>i_node</a:t>
            </a:r>
            <a:r>
              <a:rPr lang="en-US" dirty="0" smtClean="0"/>
              <a:t> ; // per instance data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// retrieve normalized coordinates and size of the cell</a:t>
            </a:r>
          </a:p>
          <a:p>
            <a:pPr marL="0" indent="0">
              <a:buNone/>
            </a:pPr>
            <a:r>
              <a:rPr lang="en-US" dirty="0" smtClean="0"/>
              <a:t>void lt_cell_2_15 ( in </a:t>
            </a:r>
            <a:r>
              <a:rPr lang="en-US" dirty="0" err="1" smtClean="0"/>
              <a:t>uint</a:t>
            </a:r>
            <a:r>
              <a:rPr lang="en-US" dirty="0" smtClean="0"/>
              <a:t> key , out vec2 p , out float size ) {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uvec2 </a:t>
            </a:r>
            <a:r>
              <a:rPr lang="en-US" dirty="0" err="1" smtClean="0"/>
              <a:t>pos</a:t>
            </a:r>
            <a:r>
              <a:rPr lang="en-US" dirty="0" smtClean="0"/>
              <a:t>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err="1" smtClean="0"/>
              <a:t>uint</a:t>
            </a:r>
            <a:r>
              <a:rPr lang="en-US" dirty="0" smtClean="0"/>
              <a:t> level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lt_decode_2_15 ( key , level , </a:t>
            </a:r>
            <a:r>
              <a:rPr lang="en-US" dirty="0" err="1" smtClean="0"/>
              <a:t>pos</a:t>
            </a:r>
            <a:r>
              <a:rPr lang="en-US" dirty="0" smtClean="0"/>
              <a:t> )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size = 1.0 / float (1u &lt;&lt; level ) ; // in [ 0 , 1 ]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p = </a:t>
            </a:r>
            <a:r>
              <a:rPr lang="en-US" dirty="0" err="1" smtClean="0"/>
              <a:t>pos</a:t>
            </a:r>
            <a:r>
              <a:rPr lang="en-US" dirty="0" smtClean="0"/>
              <a:t> *</a:t>
            </a:r>
            <a:r>
              <a:rPr lang="ru-RU" dirty="0" smtClean="0"/>
              <a:t> </a:t>
            </a:r>
            <a:r>
              <a:rPr lang="en-US" dirty="0" smtClean="0"/>
              <a:t>size ; // in [0 , 1)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main ( ) {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vec2 translation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float scale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// pass on vertex position and scale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lt_cell_2_15 ( </a:t>
            </a:r>
            <a:r>
              <a:rPr lang="en-US" dirty="0" err="1" smtClean="0"/>
              <a:t>i_node</a:t>
            </a:r>
            <a:r>
              <a:rPr lang="en-US" dirty="0" smtClean="0"/>
              <a:t> , translation , scale )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vec2 p = i_mesh *</a:t>
            </a:r>
            <a:r>
              <a:rPr lang="ru-RU" dirty="0" smtClean="0"/>
              <a:t> </a:t>
            </a:r>
            <a:r>
              <a:rPr lang="en-US" dirty="0" smtClean="0"/>
              <a:t>scale + translation ;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err="1" smtClean="0"/>
              <a:t>gl_Position</a:t>
            </a:r>
            <a:r>
              <a:rPr lang="en-US" dirty="0" smtClean="0"/>
              <a:t> = vec4 ( p , scale , 1.0);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14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Детализация сетки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the image plane size </a:t>
            </a:r>
            <a:r>
              <a:rPr lang="en-US" sz="2400" i="1" dirty="0" smtClean="0"/>
              <a:t>s</a:t>
            </a:r>
            <a:r>
              <a:rPr lang="en-US" sz="2400" dirty="0" smtClean="0"/>
              <a:t> at distance </a:t>
            </a:r>
            <a:r>
              <a:rPr lang="en-US" sz="2400" i="1" dirty="0" smtClean="0"/>
              <a:t>z</a:t>
            </a:r>
            <a:r>
              <a:rPr lang="en-US" sz="2400" dirty="0" smtClean="0"/>
              <a:t> from the camera: </a:t>
            </a:r>
          </a:p>
          <a:p>
            <a:pPr marL="0" indent="0" algn="ctr">
              <a:buNone/>
            </a:pPr>
            <a:r>
              <a:rPr lang="en-US" sz="2400" dirty="0" smtClean="0"/>
              <a:t>s(z) = 2 * z * </a:t>
            </a:r>
            <a:r>
              <a:rPr lang="en-US" sz="2400" dirty="0" err="1" smtClean="0"/>
              <a:t>tg</a:t>
            </a:r>
            <a:r>
              <a:rPr lang="en-US" sz="2400" dirty="0" smtClean="0"/>
              <a:t>(</a:t>
            </a:r>
            <a:r>
              <a:rPr lang="el-GR" sz="2400" dirty="0" smtClean="0"/>
              <a:t>α</a:t>
            </a:r>
            <a:r>
              <a:rPr lang="en-US" sz="2400" dirty="0" smtClean="0"/>
              <a:t> / 2), </a:t>
            </a:r>
            <a:r>
              <a:rPr lang="el-GR" sz="2400" dirty="0" smtClean="0"/>
              <a:t>α</a:t>
            </a:r>
            <a:r>
              <a:rPr lang="en-US" sz="2400" dirty="0" smtClean="0"/>
              <a:t> ∈ (0, </a:t>
            </a:r>
            <a:r>
              <a:rPr lang="el-GR" sz="2400" dirty="0" smtClean="0"/>
              <a:t>π</a:t>
            </a:r>
            <a:r>
              <a:rPr lang="en-US" sz="2400" dirty="0" smtClean="0"/>
              <a:t>]</a:t>
            </a:r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r>
              <a:rPr lang="el-GR" sz="2400" dirty="0" smtClean="0"/>
              <a:t>α</a:t>
            </a:r>
            <a:r>
              <a:rPr lang="en-US" sz="2400" dirty="0" smtClean="0"/>
              <a:t> – horizontal FOV (??)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99840" y="3429000"/>
            <a:ext cx="8208912" cy="1938992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float z1 = distance ( eye , </a:t>
            </a:r>
            <a:r>
              <a:rPr lang="en-US" sz="2400" dirty="0" err="1" smtClean="0"/>
              <a:t>node_center</a:t>
            </a:r>
            <a:r>
              <a:rPr lang="en-US" sz="2400" dirty="0" smtClean="0"/>
              <a:t> ) ;</a:t>
            </a:r>
          </a:p>
          <a:p>
            <a:r>
              <a:rPr lang="en-US" sz="2400" dirty="0" smtClean="0"/>
              <a:t>float z2 = distance ( eye , </a:t>
            </a:r>
            <a:r>
              <a:rPr lang="en-US" sz="2400" dirty="0" err="1" smtClean="0"/>
              <a:t>parent_center</a:t>
            </a:r>
            <a:r>
              <a:rPr lang="en-US" sz="2400" dirty="0" smtClean="0"/>
              <a:t> ) ;</a:t>
            </a:r>
          </a:p>
          <a:p>
            <a:r>
              <a:rPr lang="en-US" sz="2400" dirty="0" smtClean="0"/>
              <a:t>if ( k </a:t>
            </a:r>
            <a:r>
              <a:rPr lang="ru-RU" sz="2400" dirty="0" smtClean="0"/>
              <a:t>* </a:t>
            </a:r>
            <a:r>
              <a:rPr lang="en-US" sz="2400" dirty="0" err="1" smtClean="0"/>
              <a:t>node_size</a:t>
            </a:r>
            <a:r>
              <a:rPr lang="en-US" sz="2400" dirty="0" smtClean="0"/>
              <a:t> &gt; s ( z1) ) split ( ) ;</a:t>
            </a:r>
          </a:p>
          <a:p>
            <a:r>
              <a:rPr lang="en-US" sz="2400" dirty="0" smtClean="0"/>
              <a:t>else if ( k </a:t>
            </a:r>
            <a:r>
              <a:rPr lang="ru-RU" sz="2400" dirty="0" smtClean="0"/>
              <a:t>* </a:t>
            </a:r>
            <a:r>
              <a:rPr lang="en-US" sz="2400" dirty="0" err="1" smtClean="0"/>
              <a:t>parent_size</a:t>
            </a:r>
            <a:r>
              <a:rPr lang="en-US" sz="2400" dirty="0" smtClean="0"/>
              <a:t> &lt; s ( z2) ) merge ( ) ;</a:t>
            </a:r>
          </a:p>
          <a:p>
            <a:r>
              <a:rPr lang="en-US" sz="2400" dirty="0" smtClean="0"/>
              <a:t>else keep ( ) ;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5589240"/>
            <a:ext cx="8208912" cy="83099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k – </a:t>
            </a:r>
            <a:r>
              <a:rPr lang="ru-RU" sz="2400" dirty="0" smtClean="0"/>
              <a:t>волшебный </a:t>
            </a:r>
            <a:r>
              <a:rPr lang="ru-RU" sz="2400" dirty="0" err="1" smtClean="0"/>
              <a:t>коэффицент</a:t>
            </a:r>
            <a:r>
              <a:rPr lang="ru-RU" sz="2400" dirty="0" smtClean="0"/>
              <a:t>, число «клеток» на экране</a:t>
            </a:r>
          </a:p>
          <a:p>
            <a:r>
              <a:rPr lang="en-US" sz="2400" dirty="0" smtClean="0"/>
              <a:t>k = 8 =&gt; ~36 = 6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=&gt; </a:t>
            </a:r>
            <a:r>
              <a:rPr lang="en-US" sz="2400" dirty="0" err="1" smtClean="0"/>
              <a:t>nxn</a:t>
            </a:r>
            <a:r>
              <a:rPr lang="en-US" sz="2400" dirty="0" smtClean="0"/>
              <a:t> </a:t>
            </a:r>
            <a:r>
              <a:rPr lang="ru-RU" sz="2400" dirty="0" smtClean="0"/>
              <a:t>сетка даёт плотность 36</a:t>
            </a:r>
            <a:r>
              <a:rPr lang="en-US" sz="2400" dirty="0" smtClean="0"/>
              <a:t> * 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</a:t>
            </a:r>
            <a:r>
              <a:rPr lang="ru-RU" sz="2400" dirty="0" smtClean="0"/>
              <a:t>(чего?)</a:t>
            </a:r>
            <a:endParaRPr lang="ru-RU" sz="2400" baseline="30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47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Устранение Т-образных соединений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Tesselation</a:t>
            </a:r>
            <a:r>
              <a:rPr lang="en-US" sz="2400" dirty="0" smtClean="0"/>
              <a:t> Control </a:t>
            </a:r>
            <a:r>
              <a:rPr lang="en-US" sz="2400" dirty="0" err="1" smtClean="0"/>
              <a:t>Shader</a:t>
            </a:r>
            <a:r>
              <a:rPr lang="en-US" sz="2400" dirty="0" smtClean="0"/>
              <a:t> (a.k.a. Hull </a:t>
            </a:r>
            <a:r>
              <a:rPr lang="en-US" sz="2400" dirty="0" err="1" smtClean="0"/>
              <a:t>Shader</a:t>
            </a:r>
            <a:r>
              <a:rPr lang="en-US" sz="2400" dirty="0" smtClean="0"/>
              <a:t>)</a:t>
            </a:r>
          </a:p>
          <a:p>
            <a:pPr lvl="1"/>
            <a:r>
              <a:rPr lang="ru-RU" sz="2000" dirty="0" smtClean="0"/>
              <a:t>вычислить </a:t>
            </a:r>
            <a:r>
              <a:rPr lang="en-US" sz="2000" dirty="0" smtClean="0"/>
              <a:t>LOD-</a:t>
            </a:r>
            <a:r>
              <a:rPr lang="ru-RU" sz="2000" dirty="0" smtClean="0"/>
              <a:t>функцию на рёбрах </a:t>
            </a:r>
            <a:r>
              <a:rPr lang="ru-RU" sz="2000" dirty="0" smtClean="0"/>
              <a:t>сетки</a:t>
            </a:r>
            <a:r>
              <a:rPr lang="en-US" sz="2000" dirty="0" smtClean="0"/>
              <a:t>;</a:t>
            </a:r>
            <a:endParaRPr lang="ru-RU" sz="2000" dirty="0" smtClean="0"/>
          </a:p>
          <a:p>
            <a:pPr lvl="1"/>
            <a:r>
              <a:rPr lang="ru-RU" sz="2000" dirty="0" smtClean="0"/>
              <a:t>степень разбиения: </a:t>
            </a:r>
            <a:r>
              <a:rPr lang="en-US" sz="2000" dirty="0" smtClean="0"/>
              <a:t>LOD * √</a:t>
            </a:r>
            <a:r>
              <a:rPr lang="en-US" sz="2000" dirty="0" smtClean="0"/>
              <a:t>2;</a:t>
            </a:r>
            <a:endParaRPr lang="en-US" sz="2000" dirty="0" smtClean="0"/>
          </a:p>
          <a:p>
            <a:pPr marL="57150" indent="0">
              <a:buNone/>
            </a:pPr>
            <a:endParaRPr lang="ru-R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429000"/>
            <a:ext cx="2836168" cy="283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429000"/>
            <a:ext cx="2836168" cy="283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право 3"/>
          <p:cNvSpPr/>
          <p:nvPr/>
        </p:nvSpPr>
        <p:spPr>
          <a:xfrm>
            <a:off x="4123184" y="4656026"/>
            <a:ext cx="864096" cy="38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95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Устранение Т-образных соединений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layout ( vertices = 4) out ; // quad patches</a:t>
            </a:r>
          </a:p>
          <a:p>
            <a:pPr marL="0" indent="0">
              <a:buNone/>
            </a:pPr>
            <a:r>
              <a:rPr lang="en-US" sz="1600" dirty="0" smtClean="0"/>
              <a:t>uniform vec3 </a:t>
            </a:r>
            <a:r>
              <a:rPr lang="en-US" sz="1600" dirty="0" err="1" smtClean="0"/>
              <a:t>u_eye_pos</a:t>
            </a:r>
            <a:r>
              <a:rPr lang="en-US" sz="1600" dirty="0" smtClean="0"/>
              <a:t> ; // eye position</a:t>
            </a:r>
          </a:p>
          <a:p>
            <a:pPr marL="0" indent="0">
              <a:buNone/>
            </a:pPr>
            <a:r>
              <a:rPr lang="en-US" sz="1600" dirty="0" smtClean="0"/>
              <a:t>void main ( ) {</a:t>
            </a:r>
          </a:p>
          <a:p>
            <a:pPr marL="0" indent="0">
              <a:buNone/>
            </a:pPr>
            <a:r>
              <a:rPr lang="en-US" sz="1600" dirty="0" smtClean="0"/>
              <a:t>	// get data from vertex stage</a:t>
            </a:r>
          </a:p>
          <a:p>
            <a:pPr marL="0" indent="0">
              <a:buNone/>
            </a:pPr>
            <a:r>
              <a:rPr lang="en-US" sz="1600" dirty="0" smtClean="0"/>
              <a:t>	vec4 e1 = </a:t>
            </a:r>
            <a:r>
              <a:rPr lang="en-US" sz="1600" dirty="0" err="1" smtClean="0"/>
              <a:t>gl_in</a:t>
            </a:r>
            <a:r>
              <a:rPr lang="en-US" sz="1600" dirty="0" smtClean="0"/>
              <a:t> [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] . </a:t>
            </a:r>
            <a:r>
              <a:rPr lang="en-US" sz="1600" dirty="0" err="1" smtClean="0"/>
              <a:t>gl_Position</a:t>
            </a:r>
            <a:r>
              <a:rPr lang="en-US" sz="1600" dirty="0" smtClean="0"/>
              <a:t> ;</a:t>
            </a:r>
          </a:p>
          <a:p>
            <a:pPr marL="0" indent="0">
              <a:buNone/>
            </a:pPr>
            <a:r>
              <a:rPr lang="en-US" sz="1600" dirty="0" smtClean="0"/>
              <a:t>	vec4 e2 = </a:t>
            </a:r>
            <a:r>
              <a:rPr lang="en-US" sz="1600" dirty="0" err="1" smtClean="0"/>
              <a:t>gl_in</a:t>
            </a:r>
            <a:r>
              <a:rPr lang="en-US" sz="1600" dirty="0" smtClean="0"/>
              <a:t> [ (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+1)%4] . </a:t>
            </a:r>
            <a:r>
              <a:rPr lang="en-US" sz="1600" dirty="0" err="1" smtClean="0"/>
              <a:t>gl_Position</a:t>
            </a:r>
            <a:r>
              <a:rPr lang="en-US" sz="1600" dirty="0" smtClean="0"/>
              <a:t> ;</a:t>
            </a:r>
          </a:p>
          <a:p>
            <a:pPr marL="0" indent="0">
              <a:buNone/>
            </a:pPr>
            <a:r>
              <a:rPr lang="en-US" sz="1600" dirty="0" smtClean="0"/>
              <a:t>	// compute edge </a:t>
            </a:r>
            <a:r>
              <a:rPr lang="en-US" sz="1600" dirty="0" err="1" smtClean="0"/>
              <a:t>cente</a:t>
            </a:r>
            <a:r>
              <a:rPr lang="en-US" sz="1600" dirty="0" smtClean="0"/>
              <a:t> r and LOD function</a:t>
            </a:r>
          </a:p>
          <a:p>
            <a:pPr marL="0" indent="0">
              <a:buNone/>
            </a:pPr>
            <a:r>
              <a:rPr lang="en-US" sz="1600" dirty="0" smtClean="0"/>
              <a:t>	vec3 </a:t>
            </a:r>
            <a:r>
              <a:rPr lang="en-US" sz="1600" dirty="0" err="1" smtClean="0"/>
              <a:t>ec</a:t>
            </a:r>
            <a:r>
              <a:rPr lang="en-US" sz="1600" dirty="0" smtClean="0"/>
              <a:t> = vec3 ( 0 . 5 *</a:t>
            </a:r>
            <a:r>
              <a:rPr lang="ru-RU" sz="1600" dirty="0" smtClean="0"/>
              <a:t> </a:t>
            </a:r>
            <a:r>
              <a:rPr lang="en-US" sz="1600" dirty="0" smtClean="0"/>
              <a:t>e1 . </a:t>
            </a:r>
            <a:r>
              <a:rPr lang="en-US" sz="1600" dirty="0" err="1" smtClean="0"/>
              <a:t>xy</a:t>
            </a:r>
            <a:r>
              <a:rPr lang="en-US" sz="1600" dirty="0" smtClean="0"/>
              <a:t> + 0.5 *</a:t>
            </a:r>
            <a:r>
              <a:rPr lang="ru-RU" sz="1600" dirty="0" smtClean="0"/>
              <a:t> </a:t>
            </a:r>
            <a:r>
              <a:rPr lang="en-US" sz="1600" dirty="0" smtClean="0"/>
              <a:t>e2 . </a:t>
            </a:r>
            <a:r>
              <a:rPr lang="en-US" sz="1600" dirty="0" err="1" smtClean="0"/>
              <a:t>xy</a:t>
            </a:r>
            <a:r>
              <a:rPr lang="en-US" sz="1600" dirty="0" smtClean="0"/>
              <a:t>, 0);</a:t>
            </a:r>
          </a:p>
          <a:p>
            <a:pPr marL="0" indent="0">
              <a:buNone/>
            </a:pPr>
            <a:r>
              <a:rPr lang="en-US" sz="1600" dirty="0" smtClean="0"/>
              <a:t>	floats = 2.0 *</a:t>
            </a:r>
            <a:r>
              <a:rPr lang="ru-RU" sz="1600" dirty="0" smtClean="0"/>
              <a:t> </a:t>
            </a:r>
            <a:r>
              <a:rPr lang="en-US" sz="1600" dirty="0" smtClean="0"/>
              <a:t>distance ( </a:t>
            </a:r>
            <a:r>
              <a:rPr lang="en-US" sz="1600" dirty="0" err="1" smtClean="0"/>
              <a:t>u_eye_pos</a:t>
            </a:r>
            <a:r>
              <a:rPr lang="en-US" sz="1600" dirty="0" smtClean="0"/>
              <a:t> , </a:t>
            </a:r>
            <a:r>
              <a:rPr lang="en-US" sz="1600" dirty="0" err="1" smtClean="0"/>
              <a:t>ec</a:t>
            </a:r>
            <a:r>
              <a:rPr lang="en-US" sz="1600" dirty="0" smtClean="0"/>
              <a:t> ) *</a:t>
            </a:r>
            <a:r>
              <a:rPr lang="ru-RU" sz="1600" dirty="0" smtClean="0"/>
              <a:t> </a:t>
            </a:r>
            <a:r>
              <a:rPr lang="en-US" sz="1600" dirty="0" err="1" smtClean="0"/>
              <a:t>u_tan_fov</a:t>
            </a:r>
            <a:r>
              <a:rPr lang="en-US" sz="1600" dirty="0" smtClean="0"/>
              <a:t> ;</a:t>
            </a:r>
          </a:p>
          <a:p>
            <a:pPr marL="0" indent="0">
              <a:buNone/>
            </a:pPr>
            <a:r>
              <a:rPr lang="en-US" sz="1600" dirty="0" smtClean="0"/>
              <a:t>	// compute </a:t>
            </a:r>
            <a:r>
              <a:rPr lang="en-US" sz="1600" dirty="0" err="1" smtClean="0"/>
              <a:t>tessellationfactors</a:t>
            </a:r>
            <a:r>
              <a:rPr lang="en-US" sz="1600" dirty="0" smtClean="0"/>
              <a:t> (1 or 2)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const</a:t>
            </a:r>
            <a:r>
              <a:rPr lang="en-US" sz="1600" dirty="0" smtClean="0"/>
              <a:t> float k = 8.0;</a:t>
            </a:r>
          </a:p>
          <a:p>
            <a:pPr marL="0" indent="0">
              <a:buNone/>
            </a:pPr>
            <a:r>
              <a:rPr lang="en-US" sz="1600" dirty="0" smtClean="0"/>
              <a:t>	float factor = e1 . z *</a:t>
            </a:r>
            <a:r>
              <a:rPr lang="ru-RU" sz="1600" dirty="0" smtClean="0"/>
              <a:t> </a:t>
            </a:r>
            <a:r>
              <a:rPr lang="en-US" sz="1600" dirty="0" smtClean="0"/>
              <a:t>k *</a:t>
            </a:r>
            <a:r>
              <a:rPr lang="ru-RU" sz="1600" dirty="0" smtClean="0"/>
              <a:t> </a:t>
            </a:r>
            <a:r>
              <a:rPr lang="en-US" sz="1600" dirty="0" err="1" smtClean="0"/>
              <a:t>sqrt</a:t>
            </a:r>
            <a:r>
              <a:rPr lang="en-US" sz="1600" dirty="0" smtClean="0"/>
              <a:t> ( 2 . 0 ) / s ;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gl_TessLevelOuter</a:t>
            </a:r>
            <a:r>
              <a:rPr lang="en-US" sz="1600" dirty="0" smtClean="0"/>
              <a:t> [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] = factor ;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gl_TessLevelInner</a:t>
            </a:r>
            <a:r>
              <a:rPr lang="en-US" sz="1600" dirty="0" smtClean="0"/>
              <a:t> [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%2] = factor ;</a:t>
            </a:r>
          </a:p>
          <a:p>
            <a:pPr marL="0" indent="0">
              <a:buNone/>
            </a:pPr>
            <a:r>
              <a:rPr lang="en-US" sz="1600" dirty="0" smtClean="0"/>
              <a:t>	// send data to subsequent s </a:t>
            </a:r>
            <a:r>
              <a:rPr lang="en-US" sz="1600" dirty="0" err="1" smtClean="0"/>
              <a:t>tages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gl_out</a:t>
            </a:r>
            <a:r>
              <a:rPr lang="en-US" sz="1600" dirty="0" smtClean="0"/>
              <a:t> [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] . </a:t>
            </a:r>
            <a:r>
              <a:rPr lang="en-US" sz="1600" dirty="0" err="1" smtClean="0"/>
              <a:t>gl_Position</a:t>
            </a:r>
            <a:r>
              <a:rPr lang="en-US" sz="1600" dirty="0" smtClean="0"/>
              <a:t> = </a:t>
            </a:r>
            <a:r>
              <a:rPr lang="en-US" sz="1600" dirty="0" err="1" smtClean="0"/>
              <a:t>gl_in</a:t>
            </a:r>
            <a:r>
              <a:rPr lang="en-US" sz="1600" dirty="0" smtClean="0"/>
              <a:t> [ </a:t>
            </a:r>
            <a:r>
              <a:rPr lang="en-US" sz="1600" dirty="0" err="1" smtClean="0"/>
              <a:t>gl_InvocationID</a:t>
            </a:r>
            <a:r>
              <a:rPr lang="en-US" sz="1600" dirty="0" smtClean="0"/>
              <a:t> ] . </a:t>
            </a:r>
            <a:r>
              <a:rPr lang="en-US" sz="1600" dirty="0" err="1" smtClean="0"/>
              <a:t>gl_Position</a:t>
            </a:r>
            <a:r>
              <a:rPr lang="en-US" sz="1600" dirty="0" smtClean="0"/>
              <a:t> ;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88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Конвейер</a:t>
            </a:r>
            <a:endParaRPr lang="ru-RU" dirty="0"/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35145"/>
            <a:ext cx="8229600" cy="405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43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Потенциал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</a:t>
            </a:r>
            <a:r>
              <a:rPr lang="ru-RU" dirty="0" smtClean="0"/>
              <a:t>бобщение на </a:t>
            </a:r>
            <a:r>
              <a:rPr lang="ru-RU" dirty="0" err="1" smtClean="0"/>
              <a:t>окто-деревья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извлечение и рендеринг объёмных </a:t>
            </a:r>
            <a:r>
              <a:rPr lang="ru-RU" dirty="0" smtClean="0"/>
              <a:t>данных</a:t>
            </a:r>
            <a:r>
              <a:rPr lang="en-US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3E3-8014-44F2-B881-82B1061CC6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8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633</Words>
  <Application>Microsoft Office PowerPoint</Application>
  <PresentationFormat>Экран (4:3)</PresentationFormat>
  <Paragraphs>143</Paragraphs>
  <Slides>16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Обработка квадро-деревьев на графическом ускорителе</vt:lpstr>
      <vt:lpstr>Первоисточник </vt:lpstr>
      <vt:lpstr>Цель</vt:lpstr>
      <vt:lpstr>Код Мортона</vt:lpstr>
      <vt:lpstr>Код Мортона</vt:lpstr>
      <vt:lpstr>Линейные квадро-деревья</vt:lpstr>
      <vt:lpstr>Линейные квадро-деревья</vt:lpstr>
      <vt:lpstr>Линейные квадро-деревья</vt:lpstr>
      <vt:lpstr>Линейные квадро-деревья</vt:lpstr>
      <vt:lpstr>Обновление квадро-дерева</vt:lpstr>
      <vt:lpstr>Извлечение сетки: вершинный шейдер</vt:lpstr>
      <vt:lpstr>Детализация сетки</vt:lpstr>
      <vt:lpstr>Устранение Т-образных соединений</vt:lpstr>
      <vt:lpstr>Устранение Т-образных соединений</vt:lpstr>
      <vt:lpstr>Конвейер</vt:lpstr>
      <vt:lpstr>Потенциал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квадро-деревьев на графическом ускорителе</dc:title>
  <dc:creator>Denis Gladkiy</dc:creator>
  <cp:lastModifiedBy>Denis Gladkiy</cp:lastModifiedBy>
  <cp:revision>17</cp:revision>
  <dcterms:created xsi:type="dcterms:W3CDTF">2015-01-30T01:44:39Z</dcterms:created>
  <dcterms:modified xsi:type="dcterms:W3CDTF">2017-12-16T10:30:53Z</dcterms:modified>
</cp:coreProperties>
</file>